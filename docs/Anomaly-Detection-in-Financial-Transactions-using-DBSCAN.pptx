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Familjen Grotesk Bold" panose="020B0604020202020204" charset="0"/>
      <p:regular r:id="rId13"/>
    </p:embeddedFont>
    <p:embeddedFont>
      <p:font typeface="Onest" panose="020B0604020202020204" charset="0"/>
      <p:regular r:id="rId14"/>
    </p:embeddedFont>
    <p:embeddedFont>
      <p:font typeface="Onest Bold" panose="020B0604020202020204" charset="0"/>
      <p:regular r:id="rId15"/>
    </p:embeddedFont>
    <p:embeddedFont>
      <p:font typeface="Onest Semi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03CD46-E7F2-46C6-9C12-5B170CDA2CD4}" v="17" dt="2026-10-04T18:16:30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avan Lingayat" userId="bed1e2a78ad463ab" providerId="LiveId" clId="{0C97CFFD-AE21-4000-9F89-92A69E204064}"/>
    <pc:docChg chg="undo custSel modSld modMainMaster">
      <pc:chgData name="Shravan Lingayat" userId="bed1e2a78ad463ab" providerId="LiveId" clId="{0C97CFFD-AE21-4000-9F89-92A69E204064}" dt="2026-10-06T07:31:38.765" v="921" actId="20577"/>
      <pc:docMkLst>
        <pc:docMk/>
      </pc:docMkLst>
      <pc:sldChg chg="modSp mod">
        <pc:chgData name="Shravan Lingayat" userId="bed1e2a78ad463ab" providerId="LiveId" clId="{0C97CFFD-AE21-4000-9F89-92A69E204064}" dt="2026-10-06T07:31:38.765" v="921" actId="20577"/>
        <pc:sldMkLst>
          <pc:docMk/>
          <pc:sldMk cId="0" sldId="256"/>
        </pc:sldMkLst>
        <pc:spChg chg="mod">
          <ac:chgData name="Shravan Lingayat" userId="bed1e2a78ad463ab" providerId="LiveId" clId="{0C97CFFD-AE21-4000-9F89-92A69E204064}" dt="2026-10-04T13:48:03.730" v="179" actId="27636"/>
          <ac:spMkLst>
            <pc:docMk/>
            <pc:sldMk cId="0" sldId="256"/>
            <ac:spMk id="3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6T07:31:38.765" v="921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Shravan Lingayat" userId="bed1e2a78ad463ab" providerId="LiveId" clId="{0C97CFFD-AE21-4000-9F89-92A69E204064}" dt="2026-10-04T13:48:03.754" v="180" actId="27636"/>
        <pc:sldMkLst>
          <pc:docMk/>
          <pc:sldMk cId="0" sldId="257"/>
        </pc:sldMkLst>
        <pc:spChg chg="mod">
          <ac:chgData name="Shravan Lingayat" userId="bed1e2a78ad463ab" providerId="LiveId" clId="{0C97CFFD-AE21-4000-9F89-92A69E204064}" dt="2026-10-04T13:48:03.754" v="180" actId="27636"/>
          <ac:spMkLst>
            <pc:docMk/>
            <pc:sldMk cId="0" sldId="257"/>
            <ac:spMk id="4" creationId="{00000000-0000-0000-0000-000000000000}"/>
          </ac:spMkLst>
        </pc:spChg>
      </pc:sldChg>
      <pc:sldChg chg="modSp mod">
        <pc:chgData name="Shravan Lingayat" userId="bed1e2a78ad463ab" providerId="LiveId" clId="{0C97CFFD-AE21-4000-9F89-92A69E204064}" dt="2026-10-04T13:26:19.896" v="38" actId="20577"/>
        <pc:sldMkLst>
          <pc:docMk/>
          <pc:sldMk cId="0" sldId="258"/>
        </pc:sldMkLst>
        <pc:spChg chg="mod">
          <ac:chgData name="Shravan Lingayat" userId="bed1e2a78ad463ab" providerId="LiveId" clId="{0C97CFFD-AE21-4000-9F89-92A69E204064}" dt="2026-10-04T13:26:19.896" v="38" actId="20577"/>
          <ac:spMkLst>
            <pc:docMk/>
            <pc:sldMk cId="0" sldId="258"/>
            <ac:spMk id="4" creationId="{00000000-0000-0000-0000-000000000000}"/>
          </ac:spMkLst>
        </pc:spChg>
      </pc:sldChg>
      <pc:sldChg chg="addSp delSp modSp mod">
        <pc:chgData name="Shravan Lingayat" userId="bed1e2a78ad463ab" providerId="LiveId" clId="{0C97CFFD-AE21-4000-9F89-92A69E204064}" dt="2026-10-04T18:17:53.628" v="787" actId="1076"/>
        <pc:sldMkLst>
          <pc:docMk/>
          <pc:sldMk cId="0" sldId="260"/>
        </pc:sldMkLst>
        <pc:spChg chg="mod">
          <ac:chgData name="Shravan Lingayat" userId="bed1e2a78ad463ab" providerId="LiveId" clId="{0C97CFFD-AE21-4000-9F89-92A69E204064}" dt="2026-10-04T18:00:40.351" v="428" actId="20577"/>
          <ac:spMkLst>
            <pc:docMk/>
            <pc:sldMk cId="0" sldId="260"/>
            <ac:spMk id="4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4T18:15:58.347" v="646" actId="20577"/>
          <ac:spMkLst>
            <pc:docMk/>
            <pc:sldMk cId="0" sldId="260"/>
            <ac:spMk id="6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4T18:16:33.996" v="685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4T18:16:11.487" v="671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4T18:17:01.017" v="743" actId="20577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4T18:16:44.075" v="709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4T18:17:09.463" v="779" actId="20577"/>
          <ac:spMkLst>
            <pc:docMk/>
            <pc:sldMk cId="0" sldId="260"/>
            <ac:spMk id="15" creationId="{00000000-0000-0000-0000-000000000000}"/>
          </ac:spMkLst>
        </pc:spChg>
        <pc:spChg chg="add mod">
          <ac:chgData name="Shravan Lingayat" userId="bed1e2a78ad463ab" providerId="LiveId" clId="{0C97CFFD-AE21-4000-9F89-92A69E204064}" dt="2026-10-04T18:17:53.628" v="787" actId="1076"/>
          <ac:spMkLst>
            <pc:docMk/>
            <pc:sldMk cId="0" sldId="260"/>
            <ac:spMk id="20" creationId="{F7167C93-61B2-DCA9-7087-2D5F53C05535}"/>
          </ac:spMkLst>
        </pc:spChg>
      </pc:sldChg>
      <pc:sldChg chg="addSp delSp modSp mod">
        <pc:chgData name="Shravan Lingayat" userId="bed1e2a78ad463ab" providerId="LiveId" clId="{0C97CFFD-AE21-4000-9F89-92A69E204064}" dt="2026-10-04T13:24:11.933" v="32" actId="1076"/>
        <pc:sldMkLst>
          <pc:docMk/>
          <pc:sldMk cId="0" sldId="261"/>
        </pc:sldMkLst>
        <pc:spChg chg="mod">
          <ac:chgData name="Shravan Lingayat" userId="bed1e2a78ad463ab" providerId="LiveId" clId="{0C97CFFD-AE21-4000-9F89-92A69E204064}" dt="2026-10-04T13:23:47.866" v="23" actId="20577"/>
          <ac:spMkLst>
            <pc:docMk/>
            <pc:sldMk cId="0" sldId="261"/>
            <ac:spMk id="6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4T13:24:11.933" v="32" actId="1076"/>
          <ac:spMkLst>
            <pc:docMk/>
            <pc:sldMk cId="0" sldId="261"/>
            <ac:spMk id="7" creationId="{00000000-0000-0000-0000-000000000000}"/>
          </ac:spMkLst>
        </pc:spChg>
        <pc:picChg chg="add mod">
          <ac:chgData name="Shravan Lingayat" userId="bed1e2a78ad463ab" providerId="LiveId" clId="{0C97CFFD-AE21-4000-9F89-92A69E204064}" dt="2026-10-04T13:24:08.965" v="31" actId="1076"/>
          <ac:picMkLst>
            <pc:docMk/>
            <pc:sldMk cId="0" sldId="261"/>
            <ac:picMk id="11" creationId="{9F79CB4A-8381-9940-0E70-CEF1A5750FCC}"/>
          </ac:picMkLst>
        </pc:picChg>
      </pc:sldChg>
      <pc:sldChg chg="addSp delSp modSp mod">
        <pc:chgData name="Shravan Lingayat" userId="bed1e2a78ad463ab" providerId="LiveId" clId="{0C97CFFD-AE21-4000-9F89-92A69E204064}" dt="2026-10-04T17:57:18.133" v="408" actId="20577"/>
        <pc:sldMkLst>
          <pc:docMk/>
          <pc:sldMk cId="0" sldId="263"/>
        </pc:sldMkLst>
        <pc:spChg chg="mod">
          <ac:chgData name="Shravan Lingayat" userId="bed1e2a78ad463ab" providerId="LiveId" clId="{0C97CFFD-AE21-4000-9F89-92A69E204064}" dt="2026-10-04T17:56:24.356" v="367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4T13:02:29.774" v="17" actId="6549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Shravan Lingayat" userId="bed1e2a78ad463ab" providerId="LiveId" clId="{0C97CFFD-AE21-4000-9F89-92A69E204064}" dt="2026-10-04T17:57:18.133" v="408" actId="20577"/>
          <ac:spMkLst>
            <pc:docMk/>
            <pc:sldMk cId="0" sldId="263"/>
            <ac:spMk id="8" creationId="{E17B8941-AA0F-01AB-0DD4-22FBD02A8B94}"/>
          </ac:spMkLst>
        </pc:spChg>
        <pc:graphicFrameChg chg="add mod modGraphic">
          <ac:chgData name="Shravan Lingayat" userId="bed1e2a78ad463ab" providerId="LiveId" clId="{0C97CFFD-AE21-4000-9F89-92A69E204064}" dt="2026-10-04T17:50:35.027" v="268" actId="207"/>
          <ac:graphicFrameMkLst>
            <pc:docMk/>
            <pc:sldMk cId="0" sldId="263"/>
            <ac:graphicFrameMk id="6" creationId="{EFE0C358-0165-F373-D91F-225F9486C8E4}"/>
          </ac:graphicFrameMkLst>
        </pc:graphicFrameChg>
        <pc:graphicFrameChg chg="add mod modGraphic">
          <ac:chgData name="Shravan Lingayat" userId="bed1e2a78ad463ab" providerId="LiveId" clId="{0C97CFFD-AE21-4000-9F89-92A69E204064}" dt="2026-10-04T17:51:09.344" v="272" actId="14100"/>
          <ac:graphicFrameMkLst>
            <pc:docMk/>
            <pc:sldMk cId="0" sldId="263"/>
            <ac:graphicFrameMk id="7" creationId="{DDC62111-BBC9-48CA-B19D-0402640111A0}"/>
          </ac:graphicFrameMkLst>
        </pc:graphicFrameChg>
        <pc:graphicFrameChg chg="add del mod modGraphic">
          <ac:chgData name="Shravan Lingayat" userId="bed1e2a78ad463ab" providerId="LiveId" clId="{0C97CFFD-AE21-4000-9F89-92A69E204064}" dt="2026-10-04T13:48:58.623" v="188" actId="207"/>
          <ac:graphicFrameMkLst>
            <pc:docMk/>
            <pc:sldMk cId="0" sldId="263"/>
            <ac:graphicFrameMk id="9" creationId="{00000000-0000-0000-0000-000000000000}"/>
          </ac:graphicFrameMkLst>
        </pc:graphicFrameChg>
        <pc:graphicFrameChg chg="mod modGraphic">
          <ac:chgData name="Shravan Lingayat" userId="bed1e2a78ad463ab" providerId="LiveId" clId="{0C97CFFD-AE21-4000-9F89-92A69E204064}" dt="2026-10-04T13:49:15.844" v="191"/>
          <ac:graphicFrameMkLst>
            <pc:docMk/>
            <pc:sldMk cId="0" sldId="263"/>
            <ac:graphicFrameMk id="17" creationId="{00000000-0000-0000-0000-000000000000}"/>
          </ac:graphicFrameMkLst>
        </pc:graphicFrameChg>
      </pc:sldChg>
      <pc:sldChg chg="modSp mod">
        <pc:chgData name="Shravan Lingayat" userId="bed1e2a78ad463ab" providerId="LiveId" clId="{0C97CFFD-AE21-4000-9F89-92A69E204064}" dt="2026-10-04T17:58:01.386" v="409" actId="20577"/>
        <pc:sldMkLst>
          <pc:docMk/>
          <pc:sldMk cId="0" sldId="264"/>
        </pc:sldMkLst>
        <pc:spChg chg="mod">
          <ac:chgData name="Shravan Lingayat" userId="bed1e2a78ad463ab" providerId="LiveId" clId="{0C97CFFD-AE21-4000-9F89-92A69E204064}" dt="2026-10-04T17:58:01.386" v="409" actId="20577"/>
          <ac:spMkLst>
            <pc:docMk/>
            <pc:sldMk cId="0" sldId="264"/>
            <ac:spMk id="17" creationId="{00000000-0000-0000-0000-000000000000}"/>
          </ac:spMkLst>
        </pc:spChg>
      </pc:sldChg>
      <pc:sldChg chg="modSp mod">
        <pc:chgData name="Shravan Lingayat" userId="bed1e2a78ad463ab" providerId="LiveId" clId="{0C97CFFD-AE21-4000-9F89-92A69E204064}" dt="2026-10-05T18:55:14.009" v="894" actId="14100"/>
        <pc:sldMkLst>
          <pc:docMk/>
          <pc:sldMk cId="0" sldId="265"/>
        </pc:sldMkLst>
        <pc:spChg chg="mod">
          <ac:chgData name="Shravan Lingayat" userId="bed1e2a78ad463ab" providerId="LiveId" clId="{0C97CFFD-AE21-4000-9F89-92A69E204064}" dt="2026-10-04T13:48:03.710" v="178" actId="27636"/>
          <ac:spMkLst>
            <pc:docMk/>
            <pc:sldMk cId="0" sldId="265"/>
            <ac:spMk id="4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5T18:54:38.891" v="892" actId="403"/>
          <ac:spMkLst>
            <pc:docMk/>
            <pc:sldMk cId="0" sldId="265"/>
            <ac:spMk id="5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5T18:54:26.812" v="889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5T18:54:21.859" v="88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5T18:54:19.841" v="887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5T18:54:16.070" v="886" actId="5793"/>
          <ac:spMkLst>
            <pc:docMk/>
            <pc:sldMk cId="0" sldId="265"/>
            <ac:spMk id="9" creationId="{00000000-0000-0000-0000-000000000000}"/>
          </ac:spMkLst>
        </pc:spChg>
        <pc:spChg chg="mod">
          <ac:chgData name="Shravan Lingayat" userId="bed1e2a78ad463ab" providerId="LiveId" clId="{0C97CFFD-AE21-4000-9F89-92A69E204064}" dt="2026-10-05T18:55:14.009" v="894" actId="14100"/>
          <ac:spMkLst>
            <pc:docMk/>
            <pc:sldMk cId="0" sldId="265"/>
            <ac:spMk id="10" creationId="{00000000-0000-0000-0000-000000000000}"/>
          </ac:spMkLst>
        </pc:spChg>
      </pc:sldChg>
      <pc:sldMasterChg chg="modSldLayout">
        <pc:chgData name="Shravan Lingayat" userId="bed1e2a78ad463ab" providerId="LiveId" clId="{0C97CFFD-AE21-4000-9F89-92A69E204064}" dt="2026-10-04T12:57:55.734" v="1" actId="478"/>
        <pc:sldMasterMkLst>
          <pc:docMk/>
          <pc:sldMasterMk cId="0" sldId="2147483648"/>
        </pc:sldMasterMkLst>
        <pc:sldLayoutChg chg="delSp mod">
          <pc:chgData name="Shravan Lingayat" userId="bed1e2a78ad463ab" providerId="LiveId" clId="{0C97CFFD-AE21-4000-9F89-92A69E204064}" dt="2026-10-04T12:57:50.486" v="0" actId="478"/>
          <pc:sldLayoutMkLst>
            <pc:docMk/>
            <pc:sldMasterMk cId="0" sldId="2147483648"/>
            <pc:sldLayoutMk cId="0" sldId="2147483650"/>
          </pc:sldLayoutMkLst>
        </pc:sldLayoutChg>
        <pc:sldLayoutChg chg="delSp mod">
          <pc:chgData name="Shravan Lingayat" userId="bed1e2a78ad463ab" providerId="LiveId" clId="{0C97CFFD-AE21-4000-9F89-92A69E204064}" dt="2026-10-04T12:57:55.734" v="1" actId="478"/>
          <pc:sldLayoutMkLst>
            <pc:docMk/>
            <pc:sldMasterMk cId="0" sldId="2147483648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6195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project as an unsupervised approach to detecting fraud without relying on labeled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the DBSCAN model never saw the Class feature during clustering; evaluation metrics compare detected noise against actual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Taking 10,000 rows preserved the exact 0.16% fraud proportion (16 frauds), while isolating Class from the 30 input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 components preserve 95.02% variance while making neighborhood queries meaningful.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Points with sufficient neighbor density form clusters, while isolated points outside are noise (−1), representing potential fraud.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 guides experimentation; it does not determine a perfect 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baseline configuration, eps 8 with min_samples 10, finds 13 of the 16 fraud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eps 8, min_samples 5 retained 81.25% recall while shrinking false positives to 151.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Unsupervised fraud isolation is feasible with 81.25% recall, but low precision requires practical operational safeguards.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Unsupervised density clustering is a valuable first-stage filter, with HDBSCAN and Isolation Forests as natural next steps to improve precision.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D1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8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D17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210965"/>
            <a:ext cx="690862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kern="100" spc="144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AIML HONORS · PATTERN RECOGNITION &amp; APPLICATIONS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09585" y="2005905"/>
            <a:ext cx="6908627" cy="1709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400" b="1" kern="100" spc="-110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Anomaly Detection in Financial Transactions </a:t>
            </a:r>
            <a:r>
              <a:rPr lang="en-US" sz="4400" b="1" kern="100" spc="-110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using DBSCAN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609585" y="4018855"/>
            <a:ext cx="711182" cy="31651"/>
          </a:xfrm>
          <a:prstGeom prst="roundRect">
            <a:avLst>
              <a:gd name="adj" fmla="val 49998"/>
            </a:avLst>
          </a:prstGeom>
          <a:solidFill>
            <a:srgbClr val="7FA6F2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4277618"/>
            <a:ext cx="6908627" cy="6308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Unsupervised Pattern Recognition for High-Dimensional Credit Card Fraud Detection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5086250"/>
            <a:ext cx="6908627" cy="1013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kern="100" spc="32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SAP IDs: </a:t>
            </a:r>
            <a:r>
              <a:rPr lang="en-US" sz="1600" kern="100" spc="32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60002231063 </a:t>
            </a:r>
            <a:endParaRPr lang="en-US" sz="1600" kern="100" spc="32" dirty="0">
              <a:solidFill>
                <a:srgbClr val="FFFFFF"/>
              </a:solidFill>
              <a:latin typeface="Onest" pitchFamily="34" charset="0"/>
              <a:ea typeface="Onest" pitchFamily="34" charset="-122"/>
              <a:cs typeface="Onest" pitchFamily="34" charset="-120"/>
            </a:endParaRPr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kern="100" spc="32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	60002231022 </a:t>
            </a:r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kern="100" spc="32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	Python, Scikit-Learn, NumPy, Pandas, Matplotlib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1630263"/>
            <a:ext cx="2066973" cy="283865"/>
          </a:xfrm>
          <a:prstGeom prst="roundRect">
            <a:avLst>
              <a:gd name="adj" fmla="val 32212"/>
            </a:avLst>
          </a:prstGeom>
          <a:solidFill>
            <a:srgbClr val="7FA6F2"/>
          </a:solidFill>
          <a:ln/>
        </p:spPr>
      </p:sp>
      <p:sp>
        <p:nvSpPr>
          <p:cNvPr id="3" name="Text 1"/>
          <p:cNvSpPr/>
          <p:nvPr/>
        </p:nvSpPr>
        <p:spPr>
          <a:xfrm>
            <a:off x="723882" y="1674713"/>
            <a:ext cx="244796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0D174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PROBLEM CONTEXT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2028428"/>
            <a:ext cx="6095848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Fraud is rare, so </a:t>
            </a:r>
            <a:r>
              <a:rPr lang="en-US" sz="3400" b="1" kern="100" spc="-85" dirty="0">
                <a:solidFill>
                  <a:srgbClr val="7FA6F2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anomalies matter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3163292"/>
            <a:ext cx="6095848" cy="2064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Financial fraud represents a very small proportion of transactions.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Objective: identify unusual transactions with DBSCAN and evaluate whether fraud appears as density-based anomalies.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Training is unsupervised; fraud labels are reserved for evaluation.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017" y="0"/>
            <a:ext cx="812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4089794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31422" y="670520"/>
            <a:ext cx="445570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DATA PIPELINE &amp; EXPERIMENTAL DESIGN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0578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From </a:t>
            </a:r>
            <a:r>
              <a:rPr lang="en-US" sz="3400" b="1" kern="100" spc="-85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284,807 transactions</a:t>
            </a: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 to a fixed 10,000-row subset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00213"/>
          <a:ext cx="10972525" cy="1634489"/>
        </p:xfrm>
        <a:graphic>
          <a:graphicData uri="http://schemas.openxmlformats.org/drawingml/2006/table">
            <a:tbl>
              <a:tblPr/>
              <a:tblGrid>
                <a:gridCol w="3072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3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724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5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Dataset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Transactions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Fraud cases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Fraud rate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6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Full source dataset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284,807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492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0.1727%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28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Experimental subset (evaluated)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10,000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16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0.16%</a:t>
                      </a:r>
                      <a:endParaRPr lang="en-US" sz="16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52396" marR="152396" marT="81278" marB="81278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3512542"/>
            <a:ext cx="240024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Raw Dataset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09585" y="4011613"/>
            <a:ext cx="2400240" cy="2365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Extract 10,000 sampled rows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467013" y="3512542"/>
            <a:ext cx="240024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Feature Selection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467013" y="4011613"/>
            <a:ext cx="2400240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30 features: Time, Amount, V1–V28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324442" y="3512542"/>
            <a:ext cx="240024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Robust Scaling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324442" y="4011613"/>
            <a:ext cx="2400240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Scale heavy-tailed distributions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181870" y="3512542"/>
            <a:ext cx="2400240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PCA Compression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181870" y="4011613"/>
            <a:ext cx="2400240" cy="47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2EC4B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Retain 95.02% variance</a:t>
            </a:r>
            <a:r>
              <a:rPr lang="en-US" sz="135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in 23 PCs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09585" y="4662488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Class column removed prior to modeling, excluded from DBSCAN, and used only for evaluation scoring.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3021830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31422" y="670520"/>
            <a:ext cx="3387739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DIMENSIONALITY REDUCTION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0578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PCA made </a:t>
            </a:r>
            <a:r>
              <a:rPr lang="en-US" sz="3400" b="1" kern="100" spc="-85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density clustering practical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0213"/>
            <a:ext cx="5257668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b="1" kern="100" spc="-168" dirty="0">
                <a:solidFill>
                  <a:srgbClr val="2EC4B6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30 → 23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09585" y="2511425"/>
            <a:ext cx="525766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Dimensions to principal components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24442" y="1700213"/>
            <a:ext cx="5257668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b="1" kern="100" spc="-168" dirty="0">
                <a:solidFill>
                  <a:srgbClr val="2EC4B6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95.02%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6324442" y="2511425"/>
            <a:ext cx="525766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Variance retained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09585" y="2997795"/>
            <a:ext cx="10972526" cy="1949847"/>
          </a:xfrm>
          <a:prstGeom prst="roundRect">
            <a:avLst>
              <a:gd name="adj" fmla="val 586"/>
            </a:avLst>
          </a:prstGeom>
          <a:solidFill>
            <a:srgbClr val="022349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3258145"/>
            <a:ext cx="317492" cy="254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33467" y="3251795"/>
            <a:ext cx="100454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Why PCA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333467" y="3750866"/>
            <a:ext cx="10045449" cy="942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Reduce dimensionality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Improve computational efficiency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Preserve most information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09585" y="5125442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PCA computed across standardized numerical features on the fixed 10,000-transaction subset.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628933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31422" y="670520"/>
            <a:ext cx="299484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CLUSTERING MECHANICS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0578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DBSCAN groups dense regions and </a:t>
            </a:r>
            <a:r>
              <a:rPr lang="en-US" sz="3400" b="1" kern="100" spc="-85" dirty="0">
                <a:solidFill>
                  <a:srgbClr val="D62839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identifies noise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0213"/>
            <a:ext cx="335271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2EC4B6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Core Points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199283"/>
            <a:ext cx="335271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 err="1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neighbours</a:t>
            </a: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≥ </a:t>
            </a:r>
            <a:r>
              <a:rPr lang="en-US" sz="1600" dirty="0" err="1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min_samples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419489" y="1700213"/>
            <a:ext cx="335271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7FA6F2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Border Point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19489" y="2199283"/>
            <a:ext cx="335271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1600" dirty="0" err="1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Neighbour</a:t>
            </a: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&lt; </a:t>
            </a:r>
            <a:r>
              <a:rPr lang="en-US" sz="1600" dirty="0" err="1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min_samples</a:t>
            </a: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+ Near core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394" y="1700213"/>
            <a:ext cx="335271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D62839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Noise Point (−1)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394" y="2199283"/>
            <a:ext cx="335271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Falls outside clusters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585" y="2657475"/>
            <a:ext cx="335271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Dense Region 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585" y="3156545"/>
            <a:ext cx="335271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419489" y="2657475"/>
            <a:ext cx="3352716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Attached to cluster 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4419489" y="3465116"/>
            <a:ext cx="335271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229394" y="2657475"/>
            <a:ext cx="335271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Anomaly Candidates (Label −1)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229394" y="3156545"/>
            <a:ext cx="3352716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DBSCAN noise points labeled −1 become anomaly candidates.</a:t>
            </a:r>
            <a:endParaRPr lang="en-US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167C93-61B2-DCA9-7087-2D5F53C05535}"/>
              </a:ext>
            </a:extLst>
          </p:cNvPr>
          <p:cNvSpPr txBox="1"/>
          <p:nvPr/>
        </p:nvSpPr>
        <p:spPr>
          <a:xfrm>
            <a:off x="609585" y="5376061"/>
            <a:ext cx="11389582" cy="119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28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eps: </a:t>
            </a:r>
            <a:r>
              <a:rPr lang="en-US" sz="2800" b="1" kern="100" spc="-85" dirty="0">
                <a:solidFill>
                  <a:srgbClr val="00B0F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Maximum </a:t>
            </a:r>
            <a:r>
              <a:rPr lang="en-US" sz="2800" b="1" kern="100" spc="-85" dirty="0" err="1">
                <a:solidFill>
                  <a:srgbClr val="00B0F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neighbourhood</a:t>
            </a:r>
            <a:r>
              <a:rPr lang="en-US" sz="2800" b="1" kern="100" spc="-85" dirty="0">
                <a:solidFill>
                  <a:srgbClr val="00B0F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 radius</a:t>
            </a:r>
          </a:p>
          <a:p>
            <a:pPr marL="0" indent="0" algn="l">
              <a:lnSpc>
                <a:spcPct val="85000"/>
              </a:lnSpc>
              <a:buNone/>
            </a:pPr>
            <a:endParaRPr lang="en-US" sz="2800" b="1" kern="100" spc="-85" dirty="0">
              <a:solidFill>
                <a:srgbClr val="00B0F0"/>
              </a:solidFill>
              <a:latin typeface="Familjen Grotesk Bold" pitchFamily="34" charset="0"/>
              <a:ea typeface="Familjen Grotesk Bold" pitchFamily="34" charset="-122"/>
              <a:cs typeface="Familjen Grotesk Bold" pitchFamily="34" charset="-120"/>
            </a:endParaRPr>
          </a:p>
          <a:p>
            <a:pPr>
              <a:lnSpc>
                <a:spcPct val="85000"/>
              </a:lnSpc>
            </a:pPr>
            <a:r>
              <a:rPr lang="en-US" sz="2800" b="1" kern="100" spc="-85" dirty="0" err="1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min_samples:</a:t>
            </a:r>
            <a:r>
              <a:rPr lang="en-US" sz="2800" b="1" kern="100" spc="-85" dirty="0" err="1">
                <a:solidFill>
                  <a:srgbClr val="92D05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Maximum</a:t>
            </a:r>
            <a:r>
              <a:rPr lang="en-US" sz="2800" b="1" kern="100" spc="-85" dirty="0">
                <a:solidFill>
                  <a:srgbClr val="92D05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 no of </a:t>
            </a:r>
            <a:r>
              <a:rPr lang="en-US" sz="2800" b="1" kern="100" spc="-85" dirty="0" err="1">
                <a:solidFill>
                  <a:srgbClr val="92D05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neighbouring</a:t>
            </a:r>
            <a:r>
              <a:rPr lang="en-US" sz="2800" b="1" kern="100" spc="-85" dirty="0">
                <a:solidFill>
                  <a:srgbClr val="92D050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 points required for a core point</a:t>
            </a:r>
            <a:endParaRPr lang="en-US" sz="2800" dirty="0">
              <a:solidFill>
                <a:srgbClr val="92D05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3373254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31422" y="670520"/>
            <a:ext cx="3739163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HYPERPARAMETER EXPLORATION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0578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Parameter search </a:t>
            </a:r>
            <a:r>
              <a:rPr lang="en-US" sz="3400" b="1" kern="100" spc="-85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narrows the experiment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0213"/>
            <a:ext cx="665969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K-distance graph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585" y="2123083"/>
            <a:ext cx="6304399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09585" y="5997675"/>
            <a:ext cx="6659694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The graph guides experimentation; it does not determine a perfect eps.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26368" y="1700213"/>
            <a:ext cx="385574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Search parameters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26368" y="2199283"/>
            <a:ext cx="3855743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850"/>
              </a:spcAft>
              <a:buNone/>
            </a:pPr>
            <a:r>
              <a:rPr lang="en-US" sz="1600" b="1" dirty="0">
                <a:solidFill>
                  <a:srgbClr val="E9EE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min_samples</a:t>
            </a: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initially set to 10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9EEFF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Tested eps values:</a:t>
            </a: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6, 7, 8, 9</a:t>
            </a:r>
            <a:endParaRPr lang="en-US" sz="16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79CB4A-8381-9940-0E70-CEF1A5750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2008783"/>
            <a:ext cx="6172735" cy="3863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2650364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31422" y="670520"/>
            <a:ext cx="3016274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BASELINE PERFORMANCE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0578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Baseline: </a:t>
            </a:r>
            <a:r>
              <a:rPr lang="en-US" sz="3400" b="1" kern="100" spc="-85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eps 8, min_samples 10</a:t>
            </a: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 finds 13 of 16 fraud cases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0213"/>
            <a:ext cx="3352716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b="1" kern="100" spc="-168" dirty="0">
                <a:solidFill>
                  <a:srgbClr val="2EC4B6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13 / 16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09585" y="2511425"/>
            <a:ext cx="335271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Fraud cases detected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419489" y="1700213"/>
            <a:ext cx="3352716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b="1" kern="100" spc="-168" dirty="0">
                <a:solidFill>
                  <a:srgbClr val="2EC4B6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81.25%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4419489" y="2511425"/>
            <a:ext cx="335271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Recall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394" y="1700213"/>
            <a:ext cx="3352716" cy="696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5600" b="1" kern="100" spc="-168" dirty="0">
                <a:solidFill>
                  <a:srgbClr val="D62839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172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8229394" y="2511425"/>
            <a:ext cx="335271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Anomaly candidates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294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85000"/>
              </a:lnSpc>
            </a:pPr>
            <a:r>
              <a:rPr lang="en-US" sz="2250" b="1" kern="100" spc="-57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Effect of changing </a:t>
            </a:r>
            <a:r>
              <a:rPr lang="en-US" sz="2250" b="1" kern="100" spc="-57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eps  </a:t>
            </a:r>
            <a:r>
              <a:rPr lang="en-US" sz="2250" b="1" kern="100" spc="-57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while keeping  </a:t>
            </a:r>
            <a:r>
              <a:rPr lang="en-US" sz="2250" b="1" kern="100" spc="-57" dirty="0" err="1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min_samples</a:t>
            </a:r>
            <a:r>
              <a:rPr lang="en-US" sz="2250" b="1" kern="100" spc="-57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=10</a:t>
            </a:r>
            <a:endParaRPr lang="en-US" sz="2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467921"/>
              </p:ext>
            </p:extLst>
          </p:nvPr>
        </p:nvGraphicFramePr>
        <p:xfrm>
          <a:off x="609585" y="1017190"/>
          <a:ext cx="6089795" cy="2022847"/>
        </p:xfrm>
        <a:graphic>
          <a:graphicData uri="http://schemas.openxmlformats.org/drawingml/2006/table">
            <a:tbl>
              <a:tblPr/>
              <a:tblGrid>
                <a:gridCol w="13397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3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97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70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eps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min_samples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Clusters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Anomalies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6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10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374 (3.74%)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7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10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256 (2.56%)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10 (Baseline)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172 (1.72%)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9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10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134 (1.34%)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706930"/>
              </p:ext>
            </p:extLst>
          </p:nvPr>
        </p:nvGraphicFramePr>
        <p:xfrm>
          <a:off x="6699380" y="1017191"/>
          <a:ext cx="5001208" cy="2026485"/>
        </p:xfrm>
        <a:graphic>
          <a:graphicData uri="http://schemas.openxmlformats.org/drawingml/2006/table">
            <a:tbl>
              <a:tblPr/>
              <a:tblGrid>
                <a:gridCol w="16003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3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4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Recall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Precision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F1-score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81.25%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3.48%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0.0667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81.25%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5.08%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0.0956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81.25%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7.56%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0.1383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50.00%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5.97%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0.1067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1"/>
          <p:cNvSpPr/>
          <p:nvPr/>
        </p:nvSpPr>
        <p:spPr>
          <a:xfrm>
            <a:off x="609585" y="6584355"/>
            <a:ext cx="10972526" cy="2534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75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E0C358-0165-F373-D91F-225F9486C8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014732"/>
              </p:ext>
            </p:extLst>
          </p:nvPr>
        </p:nvGraphicFramePr>
        <p:xfrm>
          <a:off x="609584" y="3798954"/>
          <a:ext cx="6089795" cy="2022847"/>
        </p:xfrm>
        <a:graphic>
          <a:graphicData uri="http://schemas.openxmlformats.org/drawingml/2006/table">
            <a:tbl>
              <a:tblPr/>
              <a:tblGrid>
                <a:gridCol w="1339742">
                  <a:extLst>
                    <a:ext uri="{9D8B030D-6E8A-4147-A177-3AD203B41FA5}">
                      <a16:colId xmlns:a16="http://schemas.microsoft.com/office/drawing/2014/main" val="3490747540"/>
                    </a:ext>
                  </a:extLst>
                </a:gridCol>
                <a:gridCol w="1583295">
                  <a:extLst>
                    <a:ext uri="{9D8B030D-6E8A-4147-A177-3AD203B41FA5}">
                      <a16:colId xmlns:a16="http://schemas.microsoft.com/office/drawing/2014/main" val="1981478008"/>
                    </a:ext>
                  </a:extLst>
                </a:gridCol>
                <a:gridCol w="1339742">
                  <a:extLst>
                    <a:ext uri="{9D8B030D-6E8A-4147-A177-3AD203B41FA5}">
                      <a16:colId xmlns:a16="http://schemas.microsoft.com/office/drawing/2014/main" val="3506120001"/>
                    </a:ext>
                  </a:extLst>
                </a:gridCol>
                <a:gridCol w="1827016">
                  <a:extLst>
                    <a:ext uri="{9D8B030D-6E8A-4147-A177-3AD203B41FA5}">
                      <a16:colId xmlns:a16="http://schemas.microsoft.com/office/drawing/2014/main" val="1377692569"/>
                    </a:ext>
                  </a:extLst>
                </a:gridCol>
              </a:tblGrid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eps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min_samples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Clusters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Anomalies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545804"/>
                  </a:ext>
                </a:extLst>
              </a:tr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charset="0"/>
                          <a:cs typeface="Onest" charset="0"/>
                        </a:rPr>
                        <a:t>8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charset="0"/>
                          <a:cs typeface="Onest" charset="0"/>
                        </a:rPr>
                        <a:t>5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151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0227779"/>
                  </a:ext>
                </a:extLst>
              </a:tr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charset="0"/>
                          <a:cs typeface="Onest" charset="0"/>
                        </a:rPr>
                        <a:t>8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10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172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2697157"/>
                  </a:ext>
                </a:extLst>
              </a:tr>
              <a:tr h="4052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charset="0"/>
                          <a:cs typeface="Onest" charset="0"/>
                        </a:rPr>
                        <a:t>7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5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220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0083116"/>
                  </a:ext>
                </a:extLst>
              </a:tr>
              <a:tr h="4016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9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10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134 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393031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DC62111-BBC9-48CA-B19D-040264011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31340"/>
              </p:ext>
            </p:extLst>
          </p:nvPr>
        </p:nvGraphicFramePr>
        <p:xfrm>
          <a:off x="6699379" y="3795314"/>
          <a:ext cx="5175669" cy="2022845"/>
        </p:xfrm>
        <a:graphic>
          <a:graphicData uri="http://schemas.openxmlformats.org/drawingml/2006/table">
            <a:tbl>
              <a:tblPr/>
              <a:tblGrid>
                <a:gridCol w="1656194">
                  <a:extLst>
                    <a:ext uri="{9D8B030D-6E8A-4147-A177-3AD203B41FA5}">
                      <a16:colId xmlns:a16="http://schemas.microsoft.com/office/drawing/2014/main" val="2203680599"/>
                    </a:ext>
                  </a:extLst>
                </a:gridCol>
                <a:gridCol w="1759714">
                  <a:extLst>
                    <a:ext uri="{9D8B030D-6E8A-4147-A177-3AD203B41FA5}">
                      <a16:colId xmlns:a16="http://schemas.microsoft.com/office/drawing/2014/main" val="551058593"/>
                    </a:ext>
                  </a:extLst>
                </a:gridCol>
                <a:gridCol w="1759761">
                  <a:extLst>
                    <a:ext uri="{9D8B030D-6E8A-4147-A177-3AD203B41FA5}">
                      <a16:colId xmlns:a16="http://schemas.microsoft.com/office/drawing/2014/main" val="1296709852"/>
                    </a:ext>
                  </a:extLst>
                </a:gridCol>
              </a:tblGrid>
              <a:tr h="404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Recall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Precision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F1-score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1310123"/>
                  </a:ext>
                </a:extLst>
              </a:tr>
              <a:tr h="404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81.25%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8.61%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0.1557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2141318"/>
                  </a:ext>
                </a:extLst>
              </a:tr>
              <a:tr h="404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81.25%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7.56%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0.1383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4061516"/>
                  </a:ext>
                </a:extLst>
              </a:tr>
              <a:tr h="404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81.25%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5.91%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0.1102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0069608"/>
                  </a:ext>
                </a:extLst>
              </a:tr>
              <a:tr h="40456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50.00%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5.97%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EFF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0.1067</a:t>
                      </a:r>
                      <a:endParaRPr lang="en-US" sz="105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01819" marR="101819" marT="54303" marB="54303" anchor="ctr">
                    <a:lnL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D1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A4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5179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17B8941-AA0F-01AB-0DD4-22FBD02A8B94}"/>
              </a:ext>
            </a:extLst>
          </p:cNvPr>
          <p:cNvSpPr txBox="1"/>
          <p:nvPr/>
        </p:nvSpPr>
        <p:spPr>
          <a:xfrm>
            <a:off x="609584" y="3281844"/>
            <a:ext cx="10077061" cy="386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</a:pPr>
            <a:r>
              <a:rPr lang="en-US" sz="2250" b="1" kern="100" spc="-57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Effect of changing </a:t>
            </a:r>
            <a:r>
              <a:rPr lang="en-US" sz="2250" b="1" kern="100" spc="-57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eps  </a:t>
            </a:r>
            <a:r>
              <a:rPr lang="en-US" sz="2250" b="1" kern="100" spc="-57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and  </a:t>
            </a:r>
            <a:r>
              <a:rPr lang="en-US" sz="2250" b="1" kern="100" spc="-57" dirty="0" err="1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min_samples</a:t>
            </a:r>
            <a:r>
              <a:rPr lang="en-US" sz="2250" b="1" kern="100" spc="-57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 </a:t>
            </a:r>
            <a:r>
              <a:rPr lang="en-US" sz="2250" b="1" kern="100" spc="-57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together</a:t>
            </a:r>
            <a:endParaRPr lang="en-US" sz="2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3878364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31422" y="670520"/>
            <a:ext cx="4244274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EXPERIMENTAL CONCLUSION &amp; SCOPE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05780"/>
            <a:ext cx="10972526" cy="440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Final result: </a:t>
            </a:r>
            <a:r>
              <a:rPr lang="en-US" sz="3400" b="1" kern="100" spc="-85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useful recall, low precision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1700213"/>
            <a:ext cx="2400240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600" b="1" kern="100" spc="-138" dirty="0">
                <a:solidFill>
                  <a:srgbClr val="D62839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151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09585" y="2526705"/>
            <a:ext cx="240024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Anomaly candidates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67013" y="1700213"/>
            <a:ext cx="2400240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600" b="1" kern="100" spc="-138" dirty="0">
                <a:solidFill>
                  <a:srgbClr val="2EC4B6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13 / 16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3467013" y="2526705"/>
            <a:ext cx="2400240" cy="841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Fraudulent transactions detected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Recall 81.25%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24442" y="1700213"/>
            <a:ext cx="2400240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600" b="1" kern="100" spc="-138" dirty="0">
                <a:solidFill>
                  <a:srgbClr val="D62839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8.61%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324442" y="2526705"/>
            <a:ext cx="240024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Precision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81870" y="1700213"/>
            <a:ext cx="2400240" cy="5724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2000"/>
              </a:lnSpc>
              <a:buNone/>
            </a:pPr>
            <a:r>
              <a:rPr lang="en-US" sz="4600" b="1" kern="100" spc="-138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0.1557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9181870" y="2526705"/>
            <a:ext cx="2400240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F1-score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09585" y="3545681"/>
            <a:ext cx="10972526" cy="2281039"/>
          </a:xfrm>
          <a:prstGeom prst="roundRect">
            <a:avLst>
              <a:gd name="adj" fmla="val 501"/>
            </a:avLst>
          </a:prstGeom>
          <a:solidFill>
            <a:srgbClr val="4B3F02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780" y="3806031"/>
            <a:ext cx="317492" cy="2540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33467" y="3799681"/>
            <a:ext cx="10045449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 dirty="0">
                <a:solidFill>
                  <a:srgbClr val="B4C2EC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333467" y="4298752"/>
            <a:ext cx="10045449" cy="1273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Fixed 10,000-row subset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Many false positives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Parameter sensitivity</a:t>
            </a:r>
            <a:endParaRPr lang="en-US" sz="1600" dirty="0"/>
          </a:p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No direct generalization to the full dataset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09585" y="6004520"/>
            <a:ext cx="11582110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3878364" cy="316805"/>
          </a:xfrm>
          <a:prstGeom prst="roundRect">
            <a:avLst>
              <a:gd name="adj" fmla="val 3608"/>
            </a:avLst>
          </a:prstGeom>
          <a:solidFill>
            <a:srgbClr val="071C45"/>
          </a:solidFill>
          <a:ln/>
        </p:spPr>
      </p:sp>
      <p:sp>
        <p:nvSpPr>
          <p:cNvPr id="3" name="Text 1"/>
          <p:cNvSpPr/>
          <p:nvPr/>
        </p:nvSpPr>
        <p:spPr>
          <a:xfrm>
            <a:off x="731422" y="670520"/>
            <a:ext cx="4244274" cy="194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kern="100" spc="128" dirty="0">
                <a:solidFill>
                  <a:srgbClr val="E9EE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EXPERIMENTAL CONCLUSION &amp; SCOPE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09585" y="1005780"/>
            <a:ext cx="10972526" cy="880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3400" b="1" kern="100" spc="-85" dirty="0">
                <a:solidFill>
                  <a:srgbClr val="FFFFFF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DBSCAN can surface fraud without labels, </a:t>
            </a:r>
            <a:r>
              <a:rPr lang="en-US" sz="3400" b="1" kern="100" spc="-85" dirty="0">
                <a:solidFill>
                  <a:srgbClr val="FF6A3D"/>
                </a:solidFill>
                <a:latin typeface="Familjen Grotesk Bold" pitchFamily="34" charset="0"/>
                <a:ea typeface="Familjen Grotesk Bold" pitchFamily="34" charset="-122"/>
                <a:cs typeface="Familjen Grotesk Bold" pitchFamily="34" charset="-120"/>
              </a:rPr>
              <a:t>but needs refinement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09585" y="2140644"/>
            <a:ext cx="10972526" cy="1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2000" dirty="0">
                <a:solidFill>
                  <a:srgbClr val="E9EEFF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DBSCAN identified a substantial portion of fraud without using fraud labels during model training, while low precision showed that many legitimate transactions were also classified as anomalies.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2879229"/>
            <a:ext cx="525766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3378299"/>
            <a:ext cx="5257668" cy="942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25120" indent="-325120" algn="l">
              <a:lnSpc>
                <a:spcPct val="115000"/>
              </a:lnSpc>
              <a:buSzPct val="100000"/>
              <a:buChar char="•"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24442" y="2879229"/>
            <a:ext cx="525766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324442" y="3378299"/>
            <a:ext cx="5257668" cy="9427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>
              <a:lnSpc>
                <a:spcPct val="115000"/>
              </a:lnSpc>
              <a:buSzPct val="100000"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86895" y="4132511"/>
            <a:ext cx="3258611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 dirty="0">
                <a:solidFill>
                  <a:srgbClr val="FF6A3D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Thank You ·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771</Words>
  <Application>Microsoft Office PowerPoint</Application>
  <PresentationFormat>Widescreen</PresentationFormat>
  <Paragraphs>187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Onest</vt:lpstr>
      <vt:lpstr>Arial</vt:lpstr>
      <vt:lpstr>Onest SemiBold</vt:lpstr>
      <vt:lpstr>Familjen Grotesk Bold</vt:lpstr>
      <vt:lpstr>Onest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Shravan Lingayat</cp:lastModifiedBy>
  <cp:revision>1</cp:revision>
  <dcterms:created xsi:type="dcterms:W3CDTF">2026-10-04T12:57:19Z</dcterms:created>
  <dcterms:modified xsi:type="dcterms:W3CDTF">2026-10-06T07:31:47Z</dcterms:modified>
</cp:coreProperties>
</file>